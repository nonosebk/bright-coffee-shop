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wnloads\Bright_Coffee_Pivot%20Table.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ownloads\Bright_Coffee_Pivot%20Table.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ownloads\Bright_Coffee_Pivot%20Table.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[Bright_Coffee_Pivot Table.xlsx]Pivot Table !PivotTable3</c:name>
    <c:fmtId val="-1"/>
  </c:pivotSource>
  <c:chart>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Table '!$B$13:$B$14</c:f>
              <c:strCache>
                <c:ptCount val="1"/>
                <c:pt idx="0">
                  <c:v>Astoria</c:v>
                </c:pt>
              </c:strCache>
            </c:strRef>
          </c:tx>
          <c:spPr>
            <a:solidFill>
              <a:schemeClr val="accent1"/>
            </a:solidFill>
            <a:ln>
              <a:noFill/>
            </a:ln>
            <a:effectLst/>
            <a:sp3d/>
          </c:spPr>
          <c:invertIfNegative val="0"/>
          <c:cat>
            <c:multiLvlStrRef>
              <c:f>'Pivot Table '!$A$15:$A$39</c:f>
              <c:multiLvlStrCache>
                <c:ptCount val="21"/>
                <c:lvl>
                  <c:pt idx="0">
                    <c:v>Sun</c:v>
                  </c:pt>
                  <c:pt idx="1">
                    <c:v>Mon</c:v>
                  </c:pt>
                  <c:pt idx="2">
                    <c:v>Tue</c:v>
                  </c:pt>
                  <c:pt idx="3">
                    <c:v>Wed</c:v>
                  </c:pt>
                  <c:pt idx="4">
                    <c:v>Thu</c:v>
                  </c:pt>
                  <c:pt idx="5">
                    <c:v>Fri</c:v>
                  </c:pt>
                  <c:pt idx="6">
                    <c:v>Sat</c:v>
                  </c:pt>
                  <c:pt idx="7">
                    <c:v>Sun</c:v>
                  </c:pt>
                  <c:pt idx="8">
                    <c:v>Mon</c:v>
                  </c:pt>
                  <c:pt idx="9">
                    <c:v>Tue</c:v>
                  </c:pt>
                  <c:pt idx="10">
                    <c:v>Wed</c:v>
                  </c:pt>
                  <c:pt idx="11">
                    <c:v>Thu</c:v>
                  </c:pt>
                  <c:pt idx="12">
                    <c:v>Fri</c:v>
                  </c:pt>
                  <c:pt idx="13">
                    <c:v>Sat</c:v>
                  </c:pt>
                  <c:pt idx="14">
                    <c:v>Sun</c:v>
                  </c:pt>
                  <c:pt idx="15">
                    <c:v>Mon</c:v>
                  </c:pt>
                  <c:pt idx="16">
                    <c:v>Tue</c:v>
                  </c:pt>
                  <c:pt idx="17">
                    <c:v>Wed</c:v>
                  </c:pt>
                  <c:pt idx="18">
                    <c:v>Thu</c:v>
                  </c:pt>
                  <c:pt idx="19">
                    <c:v>Fri</c:v>
                  </c:pt>
                  <c:pt idx="20">
                    <c:v>Sat</c:v>
                  </c:pt>
                </c:lvl>
                <c:lvl>
                  <c:pt idx="0">
                    <c:v>01. Morning</c:v>
                  </c:pt>
                  <c:pt idx="7">
                    <c:v>02. Afternoon</c:v>
                  </c:pt>
                  <c:pt idx="14">
                    <c:v>03. Evening</c:v>
                  </c:pt>
                </c:lvl>
              </c:multiLvlStrCache>
            </c:multiLvlStrRef>
          </c:cat>
          <c:val>
            <c:numRef>
              <c:f>'Pivot Table '!$B$15:$B$39</c:f>
              <c:numCache>
                <c:formatCode>General</c:formatCode>
                <c:ptCount val="21"/>
                <c:pt idx="0">
                  <c:v>12980.02</c:v>
                </c:pt>
                <c:pt idx="1">
                  <c:v>12691.019999999999</c:v>
                </c:pt>
                <c:pt idx="2">
                  <c:v>12927.840000000004</c:v>
                </c:pt>
                <c:pt idx="3">
                  <c:v>13615.1</c:v>
                </c:pt>
                <c:pt idx="4">
                  <c:v>12221.1</c:v>
                </c:pt>
                <c:pt idx="5">
                  <c:v>13208.840000000015</c:v>
                </c:pt>
                <c:pt idx="6">
                  <c:v>11800.470000000003</c:v>
                </c:pt>
                <c:pt idx="7">
                  <c:v>10700.009999999998</c:v>
                </c:pt>
                <c:pt idx="8">
                  <c:v>11776.260000000004</c:v>
                </c:pt>
                <c:pt idx="9">
                  <c:v>10248.839999999997</c:v>
                </c:pt>
                <c:pt idx="10">
                  <c:v>11491.430000000004</c:v>
                </c:pt>
                <c:pt idx="11">
                  <c:v>11737.369999999997</c:v>
                </c:pt>
                <c:pt idx="12">
                  <c:v>10937.530000000006</c:v>
                </c:pt>
                <c:pt idx="13">
                  <c:v>11062.980000000005</c:v>
                </c:pt>
                <c:pt idx="14">
                  <c:v>9115.1499999999978</c:v>
                </c:pt>
                <c:pt idx="15">
                  <c:v>9461.0099999999929</c:v>
                </c:pt>
                <c:pt idx="16">
                  <c:v>8640.0799999999981</c:v>
                </c:pt>
                <c:pt idx="17">
                  <c:v>9138.100000000004</c:v>
                </c:pt>
                <c:pt idx="18">
                  <c:v>10181.899999999998</c:v>
                </c:pt>
                <c:pt idx="19">
                  <c:v>9326.3800000000028</c:v>
                </c:pt>
                <c:pt idx="20">
                  <c:v>8982.48</c:v>
                </c:pt>
              </c:numCache>
            </c:numRef>
          </c:val>
          <c:extLst>
            <c:ext xmlns:c16="http://schemas.microsoft.com/office/drawing/2014/chart" uri="{C3380CC4-5D6E-409C-BE32-E72D297353CC}">
              <c16:uniqueId val="{00000000-5467-4DB7-A136-6F79137B4CAF}"/>
            </c:ext>
          </c:extLst>
        </c:ser>
        <c:ser>
          <c:idx val="1"/>
          <c:order val="1"/>
          <c:tx>
            <c:strRef>
              <c:f>'Pivot Table '!$C$13:$C$14</c:f>
              <c:strCache>
                <c:ptCount val="1"/>
                <c:pt idx="0">
                  <c:v>Hell's Kitchen</c:v>
                </c:pt>
              </c:strCache>
            </c:strRef>
          </c:tx>
          <c:spPr>
            <a:solidFill>
              <a:schemeClr val="accent2"/>
            </a:solidFill>
            <a:ln>
              <a:noFill/>
            </a:ln>
            <a:effectLst/>
            <a:sp3d/>
          </c:spPr>
          <c:invertIfNegative val="0"/>
          <c:cat>
            <c:multiLvlStrRef>
              <c:f>'Pivot Table '!$A$15:$A$39</c:f>
              <c:multiLvlStrCache>
                <c:ptCount val="21"/>
                <c:lvl>
                  <c:pt idx="0">
                    <c:v>Sun</c:v>
                  </c:pt>
                  <c:pt idx="1">
                    <c:v>Mon</c:v>
                  </c:pt>
                  <c:pt idx="2">
                    <c:v>Tue</c:v>
                  </c:pt>
                  <c:pt idx="3">
                    <c:v>Wed</c:v>
                  </c:pt>
                  <c:pt idx="4">
                    <c:v>Thu</c:v>
                  </c:pt>
                  <c:pt idx="5">
                    <c:v>Fri</c:v>
                  </c:pt>
                  <c:pt idx="6">
                    <c:v>Sat</c:v>
                  </c:pt>
                  <c:pt idx="7">
                    <c:v>Sun</c:v>
                  </c:pt>
                  <c:pt idx="8">
                    <c:v>Mon</c:v>
                  </c:pt>
                  <c:pt idx="9">
                    <c:v>Tue</c:v>
                  </c:pt>
                  <c:pt idx="10">
                    <c:v>Wed</c:v>
                  </c:pt>
                  <c:pt idx="11">
                    <c:v>Thu</c:v>
                  </c:pt>
                  <c:pt idx="12">
                    <c:v>Fri</c:v>
                  </c:pt>
                  <c:pt idx="13">
                    <c:v>Sat</c:v>
                  </c:pt>
                  <c:pt idx="14">
                    <c:v>Sun</c:v>
                  </c:pt>
                  <c:pt idx="15">
                    <c:v>Mon</c:v>
                  </c:pt>
                  <c:pt idx="16">
                    <c:v>Tue</c:v>
                  </c:pt>
                  <c:pt idx="17">
                    <c:v>Wed</c:v>
                  </c:pt>
                  <c:pt idx="18">
                    <c:v>Thu</c:v>
                  </c:pt>
                  <c:pt idx="19">
                    <c:v>Fri</c:v>
                  </c:pt>
                  <c:pt idx="20">
                    <c:v>Sat</c:v>
                  </c:pt>
                </c:lvl>
                <c:lvl>
                  <c:pt idx="0">
                    <c:v>01. Morning</c:v>
                  </c:pt>
                  <c:pt idx="7">
                    <c:v>02. Afternoon</c:v>
                  </c:pt>
                  <c:pt idx="14">
                    <c:v>03. Evening</c:v>
                  </c:pt>
                </c:lvl>
              </c:multiLvlStrCache>
            </c:multiLvlStrRef>
          </c:cat>
          <c:val>
            <c:numRef>
              <c:f>'Pivot Table '!$C$15:$C$39</c:f>
              <c:numCache>
                <c:formatCode>General</c:formatCode>
                <c:ptCount val="21"/>
                <c:pt idx="0">
                  <c:v>17369.400000000005</c:v>
                </c:pt>
                <c:pt idx="1">
                  <c:v>16830.629999999994</c:v>
                </c:pt>
                <c:pt idx="2">
                  <c:v>18864.060000000019</c:v>
                </c:pt>
                <c:pt idx="3">
                  <c:v>16985.790000000008</c:v>
                </c:pt>
                <c:pt idx="4">
                  <c:v>16516.700000000019</c:v>
                </c:pt>
                <c:pt idx="5">
                  <c:v>18055.000000000022</c:v>
                </c:pt>
                <c:pt idx="6">
                  <c:v>16895.180000000011</c:v>
                </c:pt>
                <c:pt idx="7">
                  <c:v>9037.0400000000009</c:v>
                </c:pt>
                <c:pt idx="8">
                  <c:v>9661.1</c:v>
                </c:pt>
                <c:pt idx="9">
                  <c:v>8624.5599999999959</c:v>
                </c:pt>
                <c:pt idx="10">
                  <c:v>9600.6100000000042</c:v>
                </c:pt>
                <c:pt idx="11">
                  <c:v>9758.07</c:v>
                </c:pt>
                <c:pt idx="12">
                  <c:v>9425.399999999996</c:v>
                </c:pt>
                <c:pt idx="13">
                  <c:v>8841.7099999999973</c:v>
                </c:pt>
                <c:pt idx="14">
                  <c:v>7279.1899999999969</c:v>
                </c:pt>
                <c:pt idx="15">
                  <c:v>6897.7800000000025</c:v>
                </c:pt>
                <c:pt idx="16">
                  <c:v>7357.849999999994</c:v>
                </c:pt>
                <c:pt idx="17">
                  <c:v>7192.6900000000005</c:v>
                </c:pt>
                <c:pt idx="18">
                  <c:v>7193.2900000000036</c:v>
                </c:pt>
                <c:pt idx="19">
                  <c:v>7262.78</c:v>
                </c:pt>
                <c:pt idx="20">
                  <c:v>6862.3399999999965</c:v>
                </c:pt>
              </c:numCache>
            </c:numRef>
          </c:val>
          <c:extLst>
            <c:ext xmlns:c16="http://schemas.microsoft.com/office/drawing/2014/chart" uri="{C3380CC4-5D6E-409C-BE32-E72D297353CC}">
              <c16:uniqueId val="{00000001-5467-4DB7-A136-6F79137B4CAF}"/>
            </c:ext>
          </c:extLst>
        </c:ser>
        <c:ser>
          <c:idx val="2"/>
          <c:order val="2"/>
          <c:tx>
            <c:strRef>
              <c:f>'Pivot Table '!$D$13:$D$14</c:f>
              <c:strCache>
                <c:ptCount val="1"/>
                <c:pt idx="0">
                  <c:v>Lower Manhattan</c:v>
                </c:pt>
              </c:strCache>
            </c:strRef>
          </c:tx>
          <c:spPr>
            <a:solidFill>
              <a:schemeClr val="accent3"/>
            </a:solidFill>
            <a:ln>
              <a:noFill/>
            </a:ln>
            <a:effectLst/>
            <a:sp3d/>
          </c:spPr>
          <c:invertIfNegative val="0"/>
          <c:cat>
            <c:multiLvlStrRef>
              <c:f>'Pivot Table '!$A$15:$A$39</c:f>
              <c:multiLvlStrCache>
                <c:ptCount val="21"/>
                <c:lvl>
                  <c:pt idx="0">
                    <c:v>Sun</c:v>
                  </c:pt>
                  <c:pt idx="1">
                    <c:v>Mon</c:v>
                  </c:pt>
                  <c:pt idx="2">
                    <c:v>Tue</c:v>
                  </c:pt>
                  <c:pt idx="3">
                    <c:v>Wed</c:v>
                  </c:pt>
                  <c:pt idx="4">
                    <c:v>Thu</c:v>
                  </c:pt>
                  <c:pt idx="5">
                    <c:v>Fri</c:v>
                  </c:pt>
                  <c:pt idx="6">
                    <c:v>Sat</c:v>
                  </c:pt>
                  <c:pt idx="7">
                    <c:v>Sun</c:v>
                  </c:pt>
                  <c:pt idx="8">
                    <c:v>Mon</c:v>
                  </c:pt>
                  <c:pt idx="9">
                    <c:v>Tue</c:v>
                  </c:pt>
                  <c:pt idx="10">
                    <c:v>Wed</c:v>
                  </c:pt>
                  <c:pt idx="11">
                    <c:v>Thu</c:v>
                  </c:pt>
                  <c:pt idx="12">
                    <c:v>Fri</c:v>
                  </c:pt>
                  <c:pt idx="13">
                    <c:v>Sat</c:v>
                  </c:pt>
                  <c:pt idx="14">
                    <c:v>Sun</c:v>
                  </c:pt>
                  <c:pt idx="15">
                    <c:v>Mon</c:v>
                  </c:pt>
                  <c:pt idx="16">
                    <c:v>Tue</c:v>
                  </c:pt>
                  <c:pt idx="17">
                    <c:v>Wed</c:v>
                  </c:pt>
                  <c:pt idx="18">
                    <c:v>Thu</c:v>
                  </c:pt>
                  <c:pt idx="19">
                    <c:v>Fri</c:v>
                  </c:pt>
                  <c:pt idx="20">
                    <c:v>Sat</c:v>
                  </c:pt>
                </c:lvl>
                <c:lvl>
                  <c:pt idx="0">
                    <c:v>01. Morning</c:v>
                  </c:pt>
                  <c:pt idx="7">
                    <c:v>02. Afternoon</c:v>
                  </c:pt>
                  <c:pt idx="14">
                    <c:v>03. Evening</c:v>
                  </c:pt>
                </c:lvl>
              </c:multiLvlStrCache>
            </c:multiLvlStrRef>
          </c:cat>
          <c:val>
            <c:numRef>
              <c:f>'Pivot Table '!$D$15:$D$39</c:f>
              <c:numCache>
                <c:formatCode>General</c:formatCode>
                <c:ptCount val="21"/>
                <c:pt idx="0">
                  <c:v>18250.440000000002</c:v>
                </c:pt>
                <c:pt idx="1">
                  <c:v>19023.720000000005</c:v>
                </c:pt>
                <c:pt idx="2">
                  <c:v>19406.400000000012</c:v>
                </c:pt>
                <c:pt idx="3">
                  <c:v>18321.530000000013</c:v>
                </c:pt>
                <c:pt idx="4">
                  <c:v>18411.640000000003</c:v>
                </c:pt>
                <c:pt idx="5">
                  <c:v>19160.240000000002</c:v>
                </c:pt>
                <c:pt idx="6">
                  <c:v>18434.410000000014</c:v>
                </c:pt>
                <c:pt idx="7">
                  <c:v>9293.480000000005</c:v>
                </c:pt>
                <c:pt idx="8">
                  <c:v>10275.429999999998</c:v>
                </c:pt>
                <c:pt idx="9">
                  <c:v>9093.9100000000017</c:v>
                </c:pt>
                <c:pt idx="10">
                  <c:v>9574.0399999999991</c:v>
                </c:pt>
                <c:pt idx="11">
                  <c:v>9651.7899999999991</c:v>
                </c:pt>
                <c:pt idx="12">
                  <c:v>9588.3499999999985</c:v>
                </c:pt>
                <c:pt idx="13">
                  <c:v>9537.3100000000122</c:v>
                </c:pt>
                <c:pt idx="14">
                  <c:v>4305.58</c:v>
                </c:pt>
                <c:pt idx="15">
                  <c:v>5060.3300000000017</c:v>
                </c:pt>
                <c:pt idx="16">
                  <c:v>4292.3999999999996</c:v>
                </c:pt>
                <c:pt idx="17">
                  <c:v>4394.2499999999964</c:v>
                </c:pt>
                <c:pt idx="18">
                  <c:v>5095.9199999999973</c:v>
                </c:pt>
                <c:pt idx="19">
                  <c:v>4408.4799999999977</c:v>
                </c:pt>
                <c:pt idx="20">
                  <c:v>4477.6000000000004</c:v>
                </c:pt>
              </c:numCache>
            </c:numRef>
          </c:val>
          <c:extLst>
            <c:ext xmlns:c16="http://schemas.microsoft.com/office/drawing/2014/chart" uri="{C3380CC4-5D6E-409C-BE32-E72D297353CC}">
              <c16:uniqueId val="{00000002-5467-4DB7-A136-6F79137B4CAF}"/>
            </c:ext>
          </c:extLst>
        </c:ser>
        <c:dLbls>
          <c:showLegendKey val="0"/>
          <c:showVal val="0"/>
          <c:showCatName val="0"/>
          <c:showSerName val="0"/>
          <c:showPercent val="0"/>
          <c:showBubbleSize val="0"/>
        </c:dLbls>
        <c:gapWidth val="150"/>
        <c:shape val="box"/>
        <c:axId val="215106095"/>
        <c:axId val="215108495"/>
        <c:axId val="0"/>
      </c:bar3DChart>
      <c:catAx>
        <c:axId val="2151060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5108495"/>
        <c:crosses val="autoZero"/>
        <c:auto val="1"/>
        <c:lblAlgn val="ctr"/>
        <c:lblOffset val="100"/>
        <c:noMultiLvlLbl val="0"/>
      </c:catAx>
      <c:valAx>
        <c:axId val="2151084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51060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[Bright_Coffee_Pivot Table.xlsx]Pivot Table !PivotTable2</c:name>
    <c:fmtId val="15"/>
  </c:pivotSource>
  <c:chart>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580585877469542"/>
          <c:y val="0.10604453151490036"/>
          <c:w val="0.5942871929741177"/>
          <c:h val="0.80447984116598603"/>
        </c:manualLayout>
      </c:layout>
      <c:lineChart>
        <c:grouping val="stacked"/>
        <c:varyColors val="0"/>
        <c:ser>
          <c:idx val="0"/>
          <c:order val="0"/>
          <c:tx>
            <c:strRef>
              <c:f>'Pivot Table '!$B$3:$B$4</c:f>
              <c:strCache>
                <c:ptCount val="1"/>
                <c:pt idx="0">
                  <c:v>Astoria</c:v>
                </c:pt>
              </c:strCache>
            </c:strRef>
          </c:tx>
          <c:spPr>
            <a:ln w="28575" cap="rnd">
              <a:solidFill>
                <a:schemeClr val="accent1"/>
              </a:solidFill>
              <a:round/>
            </a:ln>
            <a:effectLst/>
          </c:spPr>
          <c:marker>
            <c:symbol val="none"/>
          </c:marker>
          <c:cat>
            <c:strRef>
              <c:f>'Pivot Table '!$A$5:$A$11</c:f>
              <c:strCache>
                <c:ptCount val="6"/>
                <c:pt idx="0">
                  <c:v>Jan</c:v>
                </c:pt>
                <c:pt idx="1">
                  <c:v>Feb</c:v>
                </c:pt>
                <c:pt idx="2">
                  <c:v>Mar</c:v>
                </c:pt>
                <c:pt idx="3">
                  <c:v>Apr</c:v>
                </c:pt>
                <c:pt idx="4">
                  <c:v>May</c:v>
                </c:pt>
                <c:pt idx="5">
                  <c:v>Jun</c:v>
                </c:pt>
              </c:strCache>
            </c:strRef>
          </c:cat>
          <c:val>
            <c:numRef>
              <c:f>'Pivot Table '!$B$5:$B$11</c:f>
              <c:numCache>
                <c:formatCode>General</c:formatCode>
                <c:ptCount val="6"/>
                <c:pt idx="0">
                  <c:v>27313.660000000058</c:v>
                </c:pt>
                <c:pt idx="1">
                  <c:v>25105.340000000058</c:v>
                </c:pt>
                <c:pt idx="2">
                  <c:v>32835.430000000008</c:v>
                </c:pt>
                <c:pt idx="3">
                  <c:v>39477.610000000066</c:v>
                </c:pt>
                <c:pt idx="4">
                  <c:v>52428.760000000009</c:v>
                </c:pt>
                <c:pt idx="5">
                  <c:v>55083.109999999993</c:v>
                </c:pt>
              </c:numCache>
            </c:numRef>
          </c:val>
          <c:smooth val="0"/>
          <c:extLst>
            <c:ext xmlns:c16="http://schemas.microsoft.com/office/drawing/2014/chart" uri="{C3380CC4-5D6E-409C-BE32-E72D297353CC}">
              <c16:uniqueId val="{00000000-D41D-453A-9EBF-546195064D45}"/>
            </c:ext>
          </c:extLst>
        </c:ser>
        <c:ser>
          <c:idx val="1"/>
          <c:order val="1"/>
          <c:tx>
            <c:strRef>
              <c:f>'Pivot Table '!$C$3:$C$4</c:f>
              <c:strCache>
                <c:ptCount val="1"/>
                <c:pt idx="0">
                  <c:v>Hell's Kitchen</c:v>
                </c:pt>
              </c:strCache>
            </c:strRef>
          </c:tx>
          <c:spPr>
            <a:ln w="28575" cap="rnd">
              <a:solidFill>
                <a:schemeClr val="accent2"/>
              </a:solidFill>
              <a:round/>
            </a:ln>
            <a:effectLst/>
          </c:spPr>
          <c:marker>
            <c:symbol val="none"/>
          </c:marker>
          <c:cat>
            <c:strRef>
              <c:f>'Pivot Table '!$A$5:$A$11</c:f>
              <c:strCache>
                <c:ptCount val="6"/>
                <c:pt idx="0">
                  <c:v>Jan</c:v>
                </c:pt>
                <c:pt idx="1">
                  <c:v>Feb</c:v>
                </c:pt>
                <c:pt idx="2">
                  <c:v>Mar</c:v>
                </c:pt>
                <c:pt idx="3">
                  <c:v>Apr</c:v>
                </c:pt>
                <c:pt idx="4">
                  <c:v>May</c:v>
                </c:pt>
                <c:pt idx="5">
                  <c:v>Jun</c:v>
                </c:pt>
              </c:strCache>
            </c:strRef>
          </c:cat>
          <c:val>
            <c:numRef>
              <c:f>'Pivot Table '!$C$5:$C$11</c:f>
              <c:numCache>
                <c:formatCode>General</c:formatCode>
                <c:ptCount val="6"/>
                <c:pt idx="0">
                  <c:v>27820.650000000023</c:v>
                </c:pt>
                <c:pt idx="1">
                  <c:v>25719.800000000021</c:v>
                </c:pt>
                <c:pt idx="2">
                  <c:v>33110.569999999992</c:v>
                </c:pt>
                <c:pt idx="3">
                  <c:v>40304.139999999948</c:v>
                </c:pt>
                <c:pt idx="4">
                  <c:v>52598.929999999913</c:v>
                </c:pt>
                <c:pt idx="5">
                  <c:v>56957.079999999893</c:v>
                </c:pt>
              </c:numCache>
            </c:numRef>
          </c:val>
          <c:smooth val="0"/>
          <c:extLst>
            <c:ext xmlns:c16="http://schemas.microsoft.com/office/drawing/2014/chart" uri="{C3380CC4-5D6E-409C-BE32-E72D297353CC}">
              <c16:uniqueId val="{00000001-D41D-453A-9EBF-546195064D45}"/>
            </c:ext>
          </c:extLst>
        </c:ser>
        <c:ser>
          <c:idx val="2"/>
          <c:order val="2"/>
          <c:tx>
            <c:strRef>
              <c:f>'Pivot Table '!$D$3:$D$4</c:f>
              <c:strCache>
                <c:ptCount val="1"/>
                <c:pt idx="0">
                  <c:v>Lower Manhattan</c:v>
                </c:pt>
              </c:strCache>
            </c:strRef>
          </c:tx>
          <c:spPr>
            <a:ln w="28575" cap="rnd">
              <a:solidFill>
                <a:schemeClr val="accent3"/>
              </a:solidFill>
              <a:round/>
            </a:ln>
            <a:effectLst/>
          </c:spPr>
          <c:marker>
            <c:symbol val="none"/>
          </c:marker>
          <c:cat>
            <c:strRef>
              <c:f>'Pivot Table '!$A$5:$A$11</c:f>
              <c:strCache>
                <c:ptCount val="6"/>
                <c:pt idx="0">
                  <c:v>Jan</c:v>
                </c:pt>
                <c:pt idx="1">
                  <c:v>Feb</c:v>
                </c:pt>
                <c:pt idx="2">
                  <c:v>Mar</c:v>
                </c:pt>
                <c:pt idx="3">
                  <c:v>Apr</c:v>
                </c:pt>
                <c:pt idx="4">
                  <c:v>May</c:v>
                </c:pt>
                <c:pt idx="5">
                  <c:v>Jun</c:v>
                </c:pt>
              </c:strCache>
            </c:strRef>
          </c:cat>
          <c:val>
            <c:numRef>
              <c:f>'Pivot Table '!$D$5:$D$11</c:f>
              <c:numCache>
                <c:formatCode>General</c:formatCode>
                <c:ptCount val="6"/>
                <c:pt idx="0">
                  <c:v>26543.430000000004</c:v>
                </c:pt>
                <c:pt idx="1">
                  <c:v>25320.050000000021</c:v>
                </c:pt>
                <c:pt idx="2">
                  <c:v>32888.679999999986</c:v>
                </c:pt>
                <c:pt idx="3">
                  <c:v>39159.329999999987</c:v>
                </c:pt>
                <c:pt idx="4">
                  <c:v>51700.069999999942</c:v>
                </c:pt>
                <c:pt idx="5">
                  <c:v>54445.689999999922</c:v>
                </c:pt>
              </c:numCache>
            </c:numRef>
          </c:val>
          <c:smooth val="0"/>
          <c:extLst>
            <c:ext xmlns:c16="http://schemas.microsoft.com/office/drawing/2014/chart" uri="{C3380CC4-5D6E-409C-BE32-E72D297353CC}">
              <c16:uniqueId val="{00000002-D41D-453A-9EBF-546195064D45}"/>
            </c:ext>
          </c:extLst>
        </c:ser>
        <c:dLbls>
          <c:showLegendKey val="0"/>
          <c:showVal val="0"/>
          <c:showCatName val="0"/>
          <c:showSerName val="0"/>
          <c:showPercent val="0"/>
          <c:showBubbleSize val="0"/>
        </c:dLbls>
        <c:smooth val="0"/>
        <c:axId val="54022543"/>
        <c:axId val="54023023"/>
      </c:lineChart>
      <c:catAx>
        <c:axId val="54022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3023"/>
        <c:crosses val="autoZero"/>
        <c:auto val="1"/>
        <c:lblAlgn val="ctr"/>
        <c:lblOffset val="100"/>
        <c:noMultiLvlLbl val="0"/>
      </c:catAx>
      <c:valAx>
        <c:axId val="540230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25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[Bright_Coffee_Pivot Table.xlsx]Pivot Table !PivotTable5</c:name>
    <c:fmtId val="4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Total Product</a:t>
            </a:r>
            <a:r>
              <a:rPr lang="en-GB" baseline="0"/>
              <a:t> by Store location</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s>
    <c:plotArea>
      <c:layout/>
      <c:pieChart>
        <c:varyColors val="1"/>
        <c:ser>
          <c:idx val="0"/>
          <c:order val="0"/>
          <c:tx>
            <c:strRef>
              <c:f>'Pivot Table '!$B$58</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54D-40F0-A87F-E2E3538531B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54D-40F0-A87F-E2E3538531B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54D-40F0-A87F-E2E3538531B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54D-40F0-A87F-E2E3538531B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54D-40F0-A87F-E2E3538531B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54D-40F0-A87F-E2E3538531B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054D-40F0-A87F-E2E3538531B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054D-40F0-A87F-E2E3538531B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054D-40F0-A87F-E2E3538531B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 '!$A$59:$A$68</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'Pivot Table '!$B$59:$B$68</c:f>
              <c:numCache>
                <c:formatCode>0.00%</c:formatCode>
                <c:ptCount val="9"/>
                <c:pt idx="0">
                  <c:v>0.16645394596894278</c:v>
                </c:pt>
                <c:pt idx="1">
                  <c:v>8.7823259488862548E-3</c:v>
                </c:pt>
                <c:pt idx="2">
                  <c:v>0.37498100708056037</c:v>
                </c:pt>
                <c:pt idx="3">
                  <c:v>2.3247333394110677E-2</c:v>
                </c:pt>
                <c:pt idx="4">
                  <c:v>7.2492174917190871E-2</c:v>
                </c:pt>
                <c:pt idx="5">
                  <c:v>4.1252621022882671E-2</c:v>
                </c:pt>
                <c:pt idx="6">
                  <c:v>1.6409882395842831E-2</c:v>
                </c:pt>
                <c:pt idx="7">
                  <c:v>6.852645333819552E-3</c:v>
                </c:pt>
                <c:pt idx="8">
                  <c:v>0.28952806393776398</c:v>
                </c:pt>
              </c:numCache>
            </c:numRef>
          </c:val>
          <c:extLst>
            <c:ext xmlns:c16="http://schemas.microsoft.com/office/drawing/2014/chart" uri="{C3380CC4-5D6E-409C-BE32-E72D297353CC}">
              <c16:uniqueId val="{00000012-054D-40F0-A87F-E2E3538531B9}"/>
            </c:ext>
          </c:extLst>
        </c:ser>
        <c:dLbls>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0.29035</cdr:x>
      <cdr:y>0.06481</cdr:y>
    </cdr:from>
    <cdr:to>
      <cdr:x>0.85149</cdr:x>
      <cdr:y>0.15278</cdr:y>
    </cdr:to>
    <cdr:sp macro="" textlink="">
      <cdr:nvSpPr>
        <cdr:cNvPr id="2" name="TextBox 1">
          <a:extLst xmlns:a="http://schemas.openxmlformats.org/drawingml/2006/main">
            <a:ext uri="{FF2B5EF4-FFF2-40B4-BE49-F238E27FC236}">
              <a16:creationId xmlns:a16="http://schemas.microsoft.com/office/drawing/2014/main" id="{621C96A4-BEB8-0FC2-0BC3-12F16FAF7C44}"/>
            </a:ext>
          </a:extLst>
        </cdr:cNvPr>
        <cdr:cNvSpPr txBox="1"/>
      </cdr:nvSpPr>
      <cdr:spPr>
        <a:xfrm xmlns:a="http://schemas.openxmlformats.org/drawingml/2006/main">
          <a:off x="2073276" y="177800"/>
          <a:ext cx="4006850" cy="2413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100" b="1" u="sng" kern="1200"/>
            <a:t>Dail Revenue</a:t>
          </a:r>
          <a:r>
            <a:rPr lang="en-GB" sz="1100" b="1" u="sng" kern="1200" baseline="0"/>
            <a:t> by Time Period </a:t>
          </a:r>
          <a:endParaRPr lang="en-GB" sz="1100" b="1" u="sng" kern="1200"/>
        </a:p>
      </cdr:txBody>
    </cdr:sp>
  </cdr:relSizeAnchor>
</c:userShapes>
</file>

<file path=ppt/drawings/drawing2.xml><?xml version="1.0" encoding="utf-8"?>
<c:userShapes xmlns:c="http://schemas.openxmlformats.org/drawingml/2006/chart">
  <cdr:relSizeAnchor xmlns:cdr="http://schemas.openxmlformats.org/drawingml/2006/chartDrawing">
    <cdr:from>
      <cdr:x>0.22468</cdr:x>
      <cdr:y>0.00718</cdr:y>
    </cdr:from>
    <cdr:to>
      <cdr:x>0.86452</cdr:x>
      <cdr:y>0.08852</cdr:y>
    </cdr:to>
    <cdr:sp macro="" textlink="">
      <cdr:nvSpPr>
        <cdr:cNvPr id="2" name="TextBox 1">
          <a:extLst xmlns:a="http://schemas.openxmlformats.org/drawingml/2006/main">
            <a:ext uri="{FF2B5EF4-FFF2-40B4-BE49-F238E27FC236}">
              <a16:creationId xmlns:a16="http://schemas.microsoft.com/office/drawing/2014/main" id="{55FA699E-D787-3365-6292-9AD03AE2C35F}"/>
            </a:ext>
          </a:extLst>
        </cdr:cNvPr>
        <cdr:cNvSpPr txBox="1"/>
      </cdr:nvSpPr>
      <cdr:spPr>
        <a:xfrm xmlns:a="http://schemas.openxmlformats.org/drawingml/2006/main">
          <a:off x="1063626" y="19050"/>
          <a:ext cx="3028950" cy="2159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100" kern="1200"/>
        </a:p>
      </cdr:txBody>
    </cdr:sp>
  </cdr:relSizeAnchor>
  <cdr:relSizeAnchor xmlns:cdr="http://schemas.openxmlformats.org/drawingml/2006/chartDrawing">
    <cdr:from>
      <cdr:x>0.20456</cdr:x>
      <cdr:y>0.0311</cdr:y>
    </cdr:from>
    <cdr:to>
      <cdr:x>0.96244</cdr:x>
      <cdr:y>0.11483</cdr:y>
    </cdr:to>
    <cdr:sp macro="" textlink="">
      <cdr:nvSpPr>
        <cdr:cNvPr id="3" name="TextBox 2">
          <a:extLst xmlns:a="http://schemas.openxmlformats.org/drawingml/2006/main">
            <a:ext uri="{FF2B5EF4-FFF2-40B4-BE49-F238E27FC236}">
              <a16:creationId xmlns:a16="http://schemas.microsoft.com/office/drawing/2014/main" id="{127069B6-7FFC-C36F-4902-751EB0BE91B8}"/>
            </a:ext>
          </a:extLst>
        </cdr:cNvPr>
        <cdr:cNvSpPr txBox="1"/>
      </cdr:nvSpPr>
      <cdr:spPr>
        <a:xfrm xmlns:a="http://schemas.openxmlformats.org/drawingml/2006/main">
          <a:off x="968376" y="82550"/>
          <a:ext cx="3587750" cy="2222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GB" sz="1200" b="1" u="sng" kern="1200"/>
            <a:t>Sales</a:t>
          </a:r>
          <a:r>
            <a:rPr lang="en-GB" sz="1200" b="1" u="sng" kern="1200" baseline="0"/>
            <a:t> by Month</a:t>
          </a:r>
          <a:r>
            <a:rPr lang="en-GB" sz="1200" b="1" u="sng" kern="1200"/>
            <a:t> </a:t>
          </a: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E342E"/>
        </a:solidFill>
        <a:effectLst/>
      </p:bgPr>
    </p:bg>
    <p:spTree>
      <p:nvGrpSpPr>
        <p:cNvPr id="1" name=""/>
        <p:cNvGrpSpPr/>
        <p:nvPr/>
      </p:nvGrpSpPr>
      <p:grpSpPr>
        <a:xfrm>
          <a:off x="0" y="0"/>
          <a:ext cx="0" cy="0"/>
          <a:chOff x="0" y="0"/>
          <a:chExt cx="0" cy="0"/>
        </a:xfrm>
      </p:grpSpPr>
      <p:sp>
        <p:nvSpPr>
          <p:cNvPr id="2" name="TextBox 1"/>
          <p:cNvSpPr txBox="1"/>
          <p:nvPr/>
        </p:nvSpPr>
        <p:spPr>
          <a:xfrm>
            <a:off x="1663021" y="914400"/>
            <a:ext cx="5452198" cy="830997"/>
          </a:xfrm>
          <a:prstGeom prst="rect">
            <a:avLst/>
          </a:prstGeom>
          <a:noFill/>
        </p:spPr>
        <p:txBody>
          <a:bodyPr wrap="none">
            <a:spAutoFit/>
          </a:bodyPr>
          <a:lstStyle/>
          <a:p>
            <a:pPr algn="ctr">
              <a:defRPr sz="3000" b="1">
                <a:solidFill>
                  <a:srgbClr val="F8F5F0"/>
                </a:solidFill>
              </a:defRPr>
            </a:pPr>
            <a:r>
              <a:rPr dirty="0"/>
              <a:t>Bright Coffee Shop Sales Analysis</a:t>
            </a:r>
            <a:endParaRPr lang="en-GB" dirty="0"/>
          </a:p>
          <a:p>
            <a:pPr algn="ctr">
              <a:defRPr sz="1800">
                <a:solidFill>
                  <a:srgbClr val="F8F5F0"/>
                </a:solidFill>
              </a:defRPr>
            </a:pPr>
            <a:r>
              <a:rPr lang="en-GB" dirty="0"/>
              <a:t>Business Intelligence Dashboard  - BY </a:t>
            </a:r>
            <a:r>
              <a:rPr lang="en-GB" dirty="0" err="1"/>
              <a:t>Nonofo</a:t>
            </a:r>
            <a:r>
              <a:rPr lang="en-GB" dirty="0"/>
              <a:t> Sebako</a:t>
            </a:r>
          </a:p>
        </p:txBody>
      </p:sp>
      <p:pic>
        <p:nvPicPr>
          <p:cNvPr id="4" name="Picture 3">
            <a:extLst>
              <a:ext uri="{FF2B5EF4-FFF2-40B4-BE49-F238E27FC236}">
                <a16:creationId xmlns:a16="http://schemas.microsoft.com/office/drawing/2014/main" id="{674CC3FF-43D5-D14B-CCA0-B46280419F15}"/>
              </a:ext>
            </a:extLst>
          </p:cNvPr>
          <p:cNvPicPr>
            <a:picLocks noChangeAspect="1"/>
          </p:cNvPicPr>
          <p:nvPr/>
        </p:nvPicPr>
        <p:blipFill>
          <a:blip r:embed="rId2"/>
          <a:stretch>
            <a:fillRect/>
          </a:stretch>
        </p:blipFill>
        <p:spPr>
          <a:xfrm>
            <a:off x="337457" y="1828800"/>
            <a:ext cx="8490858" cy="464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7315200" cy="0"/>
          </a:xfrm>
          <a:prstGeom prst="rect">
            <a:avLst/>
          </a:prstGeom>
          <a:noFill/>
        </p:spPr>
        <p:txBody>
          <a:bodyPr wrap="none">
            <a:spAutoFit/>
          </a:bodyPr>
          <a:lstStyle/>
          <a:p>
            <a:pPr>
              <a:defRPr sz="2400" b="1">
                <a:solidFill>
                  <a:srgbClr val="4E342E"/>
                </a:solidFill>
              </a:defRPr>
            </a:pPr>
            <a:r>
              <a:t>Project Overview</a:t>
            </a:r>
          </a:p>
        </p:txBody>
      </p:sp>
      <p:sp>
        <p:nvSpPr>
          <p:cNvPr id="3" name="TextBox 2"/>
          <p:cNvSpPr txBox="1"/>
          <p:nvPr/>
        </p:nvSpPr>
        <p:spPr>
          <a:xfrm>
            <a:off x="457200" y="731520"/>
            <a:ext cx="6557308" cy="369332"/>
          </a:xfrm>
          <a:prstGeom prst="rect">
            <a:avLst/>
          </a:prstGeom>
          <a:noFill/>
        </p:spPr>
        <p:txBody>
          <a:bodyPr wrap="none">
            <a:spAutoFit/>
          </a:bodyPr>
          <a:lstStyle/>
          <a:p>
            <a:pPr>
              <a:defRPr sz="1800"/>
            </a:pPr>
            <a:r>
              <a:rPr dirty="0"/>
              <a:t>Analyze sales performance, products, stores and customer behavior.</a:t>
            </a:r>
          </a:p>
        </p:txBody>
      </p:sp>
      <p:sp>
        <p:nvSpPr>
          <p:cNvPr id="9" name="TextBox 8">
            <a:extLst>
              <a:ext uri="{FF2B5EF4-FFF2-40B4-BE49-F238E27FC236}">
                <a16:creationId xmlns:a16="http://schemas.microsoft.com/office/drawing/2014/main" id="{0B10E625-73C1-6E82-3ABB-9E043863B4B8}"/>
              </a:ext>
            </a:extLst>
          </p:cNvPr>
          <p:cNvSpPr txBox="1"/>
          <p:nvPr/>
        </p:nvSpPr>
        <p:spPr>
          <a:xfrm>
            <a:off x="968829" y="1582341"/>
            <a:ext cx="7913913" cy="3139321"/>
          </a:xfrm>
          <a:prstGeom prst="rect">
            <a:avLst/>
          </a:prstGeom>
          <a:noFill/>
        </p:spPr>
        <p:txBody>
          <a:bodyPr wrap="square">
            <a:spAutoFit/>
          </a:bodyPr>
          <a:lstStyle/>
          <a:p>
            <a:pPr>
              <a:buNone/>
            </a:pPr>
            <a:r>
              <a:rPr lang="en-GB" dirty="0"/>
              <a:t>The Bright Coffee Shop Sales Analysis project focuses on analysing transactional sales data to uncover meaningful business insights. Using SQL and interactive dashboards, the project evaluates sales performance, customer purchasing behaviour, product performance, and store performance to support data-driven decision-making.</a:t>
            </a:r>
          </a:p>
          <a:p>
            <a:pPr>
              <a:buNone/>
            </a:pPr>
            <a:endParaRPr lang="en-GB" dirty="0"/>
          </a:p>
          <a:p>
            <a:pPr>
              <a:buNone/>
            </a:pPr>
            <a:endParaRPr lang="en-GB" dirty="0"/>
          </a:p>
          <a:p>
            <a:pPr>
              <a:buNone/>
            </a:pPr>
            <a:endParaRPr lang="en-GB" dirty="0"/>
          </a:p>
          <a:p>
            <a:pPr>
              <a:buNone/>
            </a:pPr>
            <a:r>
              <a:rPr lang="en-GB" b="1" dirty="0"/>
              <a:t>Objective</a:t>
            </a:r>
          </a:p>
          <a:p>
            <a:pPr>
              <a:buNone/>
            </a:pPr>
            <a:r>
              <a:rPr lang="en-GB" dirty="0"/>
              <a:t>Transform raw transactional data into actionable business insights that help management improve sales performance and operational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7315200" cy="0"/>
          </a:xfrm>
          <a:prstGeom prst="rect">
            <a:avLst/>
          </a:prstGeom>
          <a:noFill/>
        </p:spPr>
        <p:txBody>
          <a:bodyPr wrap="none">
            <a:spAutoFit/>
          </a:bodyPr>
          <a:lstStyle/>
          <a:p>
            <a:pPr>
              <a:defRPr sz="2400" b="1">
                <a:solidFill>
                  <a:srgbClr val="4E342E"/>
                </a:solidFill>
              </a:defRPr>
            </a:pPr>
            <a:r>
              <a:t>KPIs</a:t>
            </a:r>
          </a:p>
        </p:txBody>
      </p:sp>
      <p:sp>
        <p:nvSpPr>
          <p:cNvPr id="3" name="TextBox 2"/>
          <p:cNvSpPr txBox="1"/>
          <p:nvPr/>
        </p:nvSpPr>
        <p:spPr>
          <a:xfrm>
            <a:off x="457200" y="731520"/>
            <a:ext cx="3657600" cy="1"/>
          </a:xfrm>
          <a:prstGeom prst="rect">
            <a:avLst/>
          </a:prstGeom>
          <a:noFill/>
        </p:spPr>
        <p:txBody>
          <a:bodyPr wrap="none">
            <a:spAutoFit/>
          </a:bodyPr>
          <a:lstStyle/>
          <a:p>
            <a:pPr>
              <a:defRPr sz="1800"/>
            </a:pPr>
            <a:r>
              <a:t>Total Revenue, Transactions, Quantity, Avg Transaction, Best Product, Top Store</a:t>
            </a:r>
          </a:p>
        </p:txBody>
      </p:sp>
      <p:sp>
        <p:nvSpPr>
          <p:cNvPr id="4" name="Rectangle 3"/>
          <p:cNvSpPr/>
          <p:nvPr/>
        </p:nvSpPr>
        <p:spPr>
          <a:xfrm>
            <a:off x="4114800" y="1589313"/>
            <a:ext cx="5029200" cy="3962401"/>
          </a:xfrm>
          <a:prstGeom prst="rect">
            <a:avLst/>
          </a:prstGeom>
          <a:solidFill>
            <a:srgbClr val="FFFFFF"/>
          </a:solidFill>
          <a:ln>
            <a:solidFill>
              <a:srgbClr val="4E34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ounded Rectangle 4"/>
          <p:cNvSpPr/>
          <p:nvPr/>
        </p:nvSpPr>
        <p:spPr>
          <a:xfrm>
            <a:off x="457200" y="1828799"/>
            <a:ext cx="1600200" cy="881743"/>
          </a:xfrm>
          <a:prstGeom prst="roundRect">
            <a:avLst/>
          </a:prstGeom>
          <a:solidFill>
            <a:srgbClr val="F57C00"/>
          </a:solidFill>
        </p:spPr>
        <p:style>
          <a:lnRef idx="1">
            <a:schemeClr val="accent1"/>
          </a:lnRef>
          <a:fillRef idx="3">
            <a:schemeClr val="accent1"/>
          </a:fillRef>
          <a:effectRef idx="2">
            <a:schemeClr val="accent1"/>
          </a:effectRef>
          <a:fontRef idx="minor">
            <a:schemeClr val="lt1"/>
          </a:fontRef>
        </p:style>
        <p:txBody>
          <a:bodyPr rtlCol="0" anchor="ctr"/>
          <a:lstStyle/>
          <a:p>
            <a:r>
              <a:rPr lang="en-GB" dirty="0"/>
              <a:t>REVENUE</a:t>
            </a:r>
          </a:p>
          <a:p>
            <a:r>
              <a:rPr lang="en-GB" dirty="0"/>
              <a:t>698.8K</a:t>
            </a:r>
            <a:endParaRPr dirty="0"/>
          </a:p>
        </p:txBody>
      </p:sp>
      <p:sp>
        <p:nvSpPr>
          <p:cNvPr id="6" name="Rounded Rectangle 5"/>
          <p:cNvSpPr/>
          <p:nvPr/>
        </p:nvSpPr>
        <p:spPr>
          <a:xfrm>
            <a:off x="2285999" y="1828799"/>
            <a:ext cx="1502229" cy="783767"/>
          </a:xfrm>
          <a:prstGeom prst="roundRect">
            <a:avLst/>
          </a:prstGeom>
          <a:solidFill>
            <a:srgbClr val="F57C00"/>
          </a:solidFill>
        </p:spPr>
        <p:style>
          <a:lnRef idx="1">
            <a:schemeClr val="accent1"/>
          </a:lnRef>
          <a:fillRef idx="3">
            <a:schemeClr val="accent1"/>
          </a:fillRef>
          <a:effectRef idx="2">
            <a:schemeClr val="accent1"/>
          </a:effectRef>
          <a:fontRef idx="minor">
            <a:schemeClr val="lt1"/>
          </a:fontRef>
        </p:style>
        <p:txBody>
          <a:bodyPr rtlCol="0" anchor="ctr"/>
          <a:lstStyle/>
          <a:p>
            <a:r>
              <a:rPr lang="en-GB" dirty="0"/>
              <a:t>UNIT SOLD </a:t>
            </a:r>
          </a:p>
          <a:p>
            <a:r>
              <a:rPr lang="en-GB" dirty="0"/>
              <a:t>149.1K</a:t>
            </a:r>
            <a:endParaRPr dirty="0"/>
          </a:p>
        </p:txBody>
      </p:sp>
      <p:sp>
        <p:nvSpPr>
          <p:cNvPr id="8" name="TextBox 7">
            <a:extLst>
              <a:ext uri="{FF2B5EF4-FFF2-40B4-BE49-F238E27FC236}">
                <a16:creationId xmlns:a16="http://schemas.microsoft.com/office/drawing/2014/main" id="{4E3A0B9C-EE11-B5E4-3AE6-F50AF1E37155}"/>
              </a:ext>
            </a:extLst>
          </p:cNvPr>
          <p:cNvSpPr txBox="1"/>
          <p:nvPr/>
        </p:nvSpPr>
        <p:spPr>
          <a:xfrm>
            <a:off x="457200" y="3080657"/>
            <a:ext cx="4114800" cy="3416320"/>
          </a:xfrm>
          <a:prstGeom prst="rect">
            <a:avLst/>
          </a:prstGeom>
          <a:noFill/>
        </p:spPr>
        <p:txBody>
          <a:bodyPr wrap="square" rtlCol="0">
            <a:spAutoFit/>
          </a:bodyPr>
          <a:lstStyle/>
          <a:p>
            <a:r>
              <a:rPr lang="en-GB" b="1" u="sng" dirty="0"/>
              <a:t>Key Performance Indicators</a:t>
            </a:r>
          </a:p>
          <a:p>
            <a:endParaRPr lang="en-GB" b="1" u="sng" dirty="0"/>
          </a:p>
          <a:p>
            <a:r>
              <a:rPr lang="en-GB" dirty="0"/>
              <a:t>The dashboard displays:</a:t>
            </a:r>
          </a:p>
          <a:p>
            <a:endParaRPr lang="en-GB" dirty="0"/>
          </a:p>
          <a:p>
            <a:pPr marL="285750" indent="-285750">
              <a:buFont typeface="Arial" panose="020B0604020202020204" pitchFamily="34" charset="0"/>
              <a:buChar char="•"/>
            </a:pPr>
            <a:r>
              <a:rPr lang="en-GB" dirty="0"/>
              <a:t>Total Revenue </a:t>
            </a:r>
          </a:p>
          <a:p>
            <a:pPr marL="285750" indent="-285750">
              <a:buFont typeface="Arial" panose="020B0604020202020204" pitchFamily="34" charset="0"/>
              <a:buChar char="•"/>
            </a:pPr>
            <a:r>
              <a:rPr lang="en-GB" dirty="0"/>
              <a:t>Total Transactions </a:t>
            </a:r>
          </a:p>
          <a:p>
            <a:pPr marL="285750" indent="-285750">
              <a:buFont typeface="Arial" panose="020B0604020202020204" pitchFamily="34" charset="0"/>
              <a:buChar char="•"/>
            </a:pPr>
            <a:r>
              <a:rPr lang="en-GB" dirty="0"/>
              <a:t>Total Quantity Sold </a:t>
            </a:r>
          </a:p>
          <a:p>
            <a:pPr marL="285750" indent="-285750">
              <a:buFont typeface="Arial" panose="020B0604020202020204" pitchFamily="34" charset="0"/>
              <a:buChar char="•"/>
            </a:pPr>
            <a:r>
              <a:rPr lang="en-GB" dirty="0"/>
              <a:t>Average Transaction Value </a:t>
            </a:r>
          </a:p>
          <a:p>
            <a:pPr marL="285750" indent="-285750">
              <a:buFont typeface="Arial" panose="020B0604020202020204" pitchFamily="34" charset="0"/>
              <a:buChar char="•"/>
            </a:pPr>
            <a:r>
              <a:rPr lang="en-GB" dirty="0"/>
              <a:t>Average Unit Price </a:t>
            </a:r>
          </a:p>
          <a:p>
            <a:pPr marL="285750" indent="-285750">
              <a:buFont typeface="Arial" panose="020B0604020202020204" pitchFamily="34" charset="0"/>
              <a:buChar char="•"/>
            </a:pPr>
            <a:r>
              <a:rPr lang="en-GB" dirty="0"/>
              <a:t>Best Selling Product </a:t>
            </a:r>
          </a:p>
          <a:p>
            <a:pPr marL="285750" indent="-285750">
              <a:buFont typeface="Arial" panose="020B0604020202020204" pitchFamily="34" charset="0"/>
              <a:buChar char="•"/>
            </a:pPr>
            <a:r>
              <a:rPr lang="en-GB" dirty="0"/>
              <a:t>Top Performing Store</a:t>
            </a:r>
          </a:p>
          <a:p>
            <a:endParaRPr lang="en-GB" dirty="0"/>
          </a:p>
        </p:txBody>
      </p:sp>
      <p:graphicFrame>
        <p:nvGraphicFramePr>
          <p:cNvPr id="9" name="Chart 8">
            <a:extLst>
              <a:ext uri="{FF2B5EF4-FFF2-40B4-BE49-F238E27FC236}">
                <a16:creationId xmlns:a16="http://schemas.microsoft.com/office/drawing/2014/main" id="{FE406CFA-4412-8AD1-3144-18239BFC8FEA}"/>
              </a:ext>
            </a:extLst>
          </p:cNvPr>
          <p:cNvGraphicFramePr>
            <a:graphicFrameLocks/>
          </p:cNvGraphicFramePr>
          <p:nvPr>
            <p:extLst>
              <p:ext uri="{D42A27DB-BD31-4B8C-83A1-F6EECF244321}">
                <p14:modId xmlns:p14="http://schemas.microsoft.com/office/powerpoint/2010/main" val="1431100101"/>
              </p:ext>
            </p:extLst>
          </p:nvPr>
        </p:nvGraphicFramePr>
        <p:xfrm>
          <a:off x="4142128" y="1955072"/>
          <a:ext cx="5431745"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7315200" cy="0"/>
          </a:xfrm>
          <a:prstGeom prst="rect">
            <a:avLst/>
          </a:prstGeom>
          <a:noFill/>
        </p:spPr>
        <p:txBody>
          <a:bodyPr wrap="none">
            <a:spAutoFit/>
          </a:bodyPr>
          <a:lstStyle/>
          <a:p>
            <a:pPr>
              <a:defRPr sz="2400" b="1">
                <a:solidFill>
                  <a:srgbClr val="4E342E"/>
                </a:solidFill>
              </a:defRPr>
            </a:pPr>
            <a:r>
              <a:t>Sales Trends</a:t>
            </a:r>
          </a:p>
        </p:txBody>
      </p:sp>
      <p:sp>
        <p:nvSpPr>
          <p:cNvPr id="3" name="TextBox 2"/>
          <p:cNvSpPr txBox="1"/>
          <p:nvPr/>
        </p:nvSpPr>
        <p:spPr>
          <a:xfrm>
            <a:off x="457200" y="731520"/>
            <a:ext cx="3657600" cy="1"/>
          </a:xfrm>
          <a:prstGeom prst="rect">
            <a:avLst/>
          </a:prstGeom>
          <a:noFill/>
        </p:spPr>
        <p:txBody>
          <a:bodyPr wrap="none">
            <a:spAutoFit/>
          </a:bodyPr>
          <a:lstStyle/>
          <a:p>
            <a:pPr>
              <a:defRPr sz="1800"/>
            </a:pPr>
            <a:r>
              <a:t>Monthly revenue and hourly sales analysis.</a:t>
            </a:r>
          </a:p>
        </p:txBody>
      </p:sp>
      <p:sp>
        <p:nvSpPr>
          <p:cNvPr id="4" name="Rectangle 3"/>
          <p:cNvSpPr/>
          <p:nvPr/>
        </p:nvSpPr>
        <p:spPr>
          <a:xfrm>
            <a:off x="4212771" y="1883229"/>
            <a:ext cx="4544514" cy="3516084"/>
          </a:xfrm>
          <a:prstGeom prst="rect">
            <a:avLst/>
          </a:prstGeom>
          <a:solidFill>
            <a:srgbClr val="FFFFFF"/>
          </a:solidFill>
          <a:ln>
            <a:solidFill>
              <a:srgbClr val="4E34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a:extLst>
              <a:ext uri="{FF2B5EF4-FFF2-40B4-BE49-F238E27FC236}">
                <a16:creationId xmlns:a16="http://schemas.microsoft.com/office/drawing/2014/main" id="{92BF2F19-7F61-FE0A-1650-1A214D2DA530}"/>
              </a:ext>
            </a:extLst>
          </p:cNvPr>
          <p:cNvSpPr txBox="1"/>
          <p:nvPr/>
        </p:nvSpPr>
        <p:spPr>
          <a:xfrm>
            <a:off x="457200" y="1719943"/>
            <a:ext cx="3657600" cy="3416320"/>
          </a:xfrm>
          <a:prstGeom prst="rect">
            <a:avLst/>
          </a:prstGeom>
          <a:noFill/>
        </p:spPr>
        <p:txBody>
          <a:bodyPr wrap="square" rtlCol="0">
            <a:spAutoFit/>
          </a:bodyPr>
          <a:lstStyle/>
          <a:p>
            <a:r>
              <a:rPr lang="en-GB" b="1" dirty="0"/>
              <a:t>Monthly Revenue Trend</a:t>
            </a:r>
          </a:p>
          <a:p>
            <a:r>
              <a:rPr lang="en-GB" b="1" dirty="0"/>
              <a:t>Analysis</a:t>
            </a:r>
          </a:p>
          <a:p>
            <a:endParaRPr lang="en-GB" b="1" dirty="0"/>
          </a:p>
          <a:p>
            <a:r>
              <a:rPr lang="en-GB" dirty="0"/>
              <a:t>Shows revenue performance over time. </a:t>
            </a:r>
          </a:p>
          <a:p>
            <a:endParaRPr lang="en-GB" dirty="0"/>
          </a:p>
          <a:p>
            <a:pPr marL="285750" indent="-285750">
              <a:buFont typeface="Arial" panose="020B0604020202020204" pitchFamily="34" charset="0"/>
              <a:buChar char="•"/>
            </a:pPr>
            <a:r>
              <a:rPr lang="en-GB" dirty="0"/>
              <a:t>Identifies seasonal trends. </a:t>
            </a:r>
          </a:p>
          <a:p>
            <a:r>
              <a:rPr lang="en-GB" dirty="0"/>
              <a:t>     Highlights the highest and          	lowest performing months. </a:t>
            </a:r>
          </a:p>
          <a:p>
            <a:endParaRPr lang="en-GB" dirty="0"/>
          </a:p>
          <a:p>
            <a:pPr marL="285750" indent="-285750">
              <a:buFont typeface="Arial" panose="020B0604020202020204" pitchFamily="34" charset="0"/>
              <a:buChar char="•"/>
            </a:pPr>
            <a:r>
              <a:rPr lang="en-GB" dirty="0"/>
              <a:t>Supports future sales forecasting. </a:t>
            </a:r>
          </a:p>
          <a:p>
            <a:endParaRPr lang="en-GB" dirty="0"/>
          </a:p>
        </p:txBody>
      </p:sp>
      <p:graphicFrame>
        <p:nvGraphicFramePr>
          <p:cNvPr id="10" name="Chart 9">
            <a:extLst>
              <a:ext uri="{FF2B5EF4-FFF2-40B4-BE49-F238E27FC236}">
                <a16:creationId xmlns:a16="http://schemas.microsoft.com/office/drawing/2014/main" id="{092D424B-7301-7F62-5AD2-061A39E7F88E}"/>
              </a:ext>
            </a:extLst>
          </p:cNvPr>
          <p:cNvGraphicFramePr>
            <a:graphicFrameLocks/>
          </p:cNvGraphicFramePr>
          <p:nvPr>
            <p:extLst>
              <p:ext uri="{D42A27DB-BD31-4B8C-83A1-F6EECF244321}">
                <p14:modId xmlns:p14="http://schemas.microsoft.com/office/powerpoint/2010/main" val="2159219558"/>
              </p:ext>
            </p:extLst>
          </p:nvPr>
        </p:nvGraphicFramePr>
        <p:xfrm>
          <a:off x="4212770" y="2100953"/>
          <a:ext cx="4544513" cy="295001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7315200" cy="0"/>
          </a:xfrm>
          <a:prstGeom prst="rect">
            <a:avLst/>
          </a:prstGeom>
          <a:noFill/>
        </p:spPr>
        <p:txBody>
          <a:bodyPr wrap="none">
            <a:spAutoFit/>
          </a:bodyPr>
          <a:lstStyle/>
          <a:p>
            <a:pPr>
              <a:defRPr sz="2400" b="1">
                <a:solidFill>
                  <a:srgbClr val="4E342E"/>
                </a:solidFill>
              </a:defRPr>
            </a:pPr>
            <a:r>
              <a:t>Product &amp; Store Performance</a:t>
            </a:r>
          </a:p>
        </p:txBody>
      </p:sp>
      <p:sp>
        <p:nvSpPr>
          <p:cNvPr id="3" name="TextBox 2"/>
          <p:cNvSpPr txBox="1"/>
          <p:nvPr/>
        </p:nvSpPr>
        <p:spPr>
          <a:xfrm>
            <a:off x="457200" y="731520"/>
            <a:ext cx="3657600" cy="1"/>
          </a:xfrm>
          <a:prstGeom prst="rect">
            <a:avLst/>
          </a:prstGeom>
          <a:noFill/>
        </p:spPr>
        <p:txBody>
          <a:bodyPr wrap="none">
            <a:spAutoFit/>
          </a:bodyPr>
          <a:lstStyle/>
          <a:p>
            <a:pPr>
              <a:defRPr sz="1800"/>
            </a:pPr>
            <a:r>
              <a:t>Top products, categories and store comparison.</a:t>
            </a:r>
          </a:p>
        </p:txBody>
      </p:sp>
      <p:sp>
        <p:nvSpPr>
          <p:cNvPr id="4" name="Rectangle 3"/>
          <p:cNvSpPr/>
          <p:nvPr/>
        </p:nvSpPr>
        <p:spPr>
          <a:xfrm>
            <a:off x="4572000" y="1848394"/>
            <a:ext cx="4571999" cy="3572691"/>
          </a:xfrm>
          <a:prstGeom prst="rect">
            <a:avLst/>
          </a:prstGeom>
          <a:solidFill>
            <a:srgbClr val="FFFFFF"/>
          </a:solidFill>
          <a:ln>
            <a:solidFill>
              <a:srgbClr val="4E34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a:extLst>
              <a:ext uri="{FF2B5EF4-FFF2-40B4-BE49-F238E27FC236}">
                <a16:creationId xmlns:a16="http://schemas.microsoft.com/office/drawing/2014/main" id="{6940AEE2-061B-3712-C681-2D80490F63A4}"/>
              </a:ext>
            </a:extLst>
          </p:cNvPr>
          <p:cNvGraphicFramePr>
            <a:graphicFrameLocks/>
          </p:cNvGraphicFramePr>
          <p:nvPr>
            <p:extLst>
              <p:ext uri="{D42A27DB-BD31-4B8C-83A1-F6EECF244321}">
                <p14:modId xmlns:p14="http://schemas.microsoft.com/office/powerpoint/2010/main" val="2729659302"/>
              </p:ext>
            </p:extLst>
          </p:nvPr>
        </p:nvGraphicFramePr>
        <p:xfrm>
          <a:off x="4724400" y="2057399"/>
          <a:ext cx="4419600" cy="336368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CB66141-2497-2CA7-CDDD-16A6D2A18D30}"/>
              </a:ext>
            </a:extLst>
          </p:cNvPr>
          <p:cNvSpPr txBox="1"/>
          <p:nvPr/>
        </p:nvSpPr>
        <p:spPr>
          <a:xfrm>
            <a:off x="365760" y="1709057"/>
            <a:ext cx="4053841" cy="3139321"/>
          </a:xfrm>
          <a:prstGeom prst="rect">
            <a:avLst/>
          </a:prstGeom>
          <a:noFill/>
        </p:spPr>
        <p:txBody>
          <a:bodyPr wrap="square" rtlCol="0">
            <a:spAutoFit/>
          </a:bodyPr>
          <a:lstStyle/>
          <a:p>
            <a:r>
              <a:rPr lang="en-GB" b="1" u="sng" dirty="0"/>
              <a:t>Insights</a:t>
            </a:r>
          </a:p>
          <a:p>
            <a:endParaRPr lang="en-GB" b="1" u="sng" dirty="0"/>
          </a:p>
          <a:p>
            <a:pPr marL="285750" indent="-285750">
              <a:buFont typeface="Arial" panose="020B0604020202020204" pitchFamily="34" charset="0"/>
              <a:buChar char="•"/>
            </a:pPr>
            <a:r>
              <a:rPr lang="en-GB" dirty="0"/>
              <a:t>Identify products generating the highest revenue. </a:t>
            </a:r>
          </a:p>
          <a:p>
            <a:endParaRPr lang="en-GB" dirty="0"/>
          </a:p>
          <a:p>
            <a:pPr marL="285750" indent="-285750">
              <a:buFont typeface="Arial" panose="020B0604020202020204" pitchFamily="34" charset="0"/>
              <a:buChar char="•"/>
            </a:pPr>
            <a:r>
              <a:rPr lang="en-GB" dirty="0"/>
              <a:t>Compare sales across product categories.</a:t>
            </a:r>
          </a:p>
          <a:p>
            <a:r>
              <a:rPr lang="en-GB" dirty="0"/>
              <a:t> </a:t>
            </a:r>
          </a:p>
          <a:p>
            <a:pPr marL="285750" indent="-285750">
              <a:buFont typeface="Arial" panose="020B0604020202020204" pitchFamily="34" charset="0"/>
              <a:buChar char="•"/>
            </a:pPr>
            <a:r>
              <a:rPr lang="en-GB" dirty="0"/>
              <a:t>Determine which products should receive additional marketing support. </a:t>
            </a:r>
          </a:p>
          <a:p>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7315200" cy="0"/>
          </a:xfrm>
          <a:prstGeom prst="rect">
            <a:avLst/>
          </a:prstGeom>
          <a:noFill/>
        </p:spPr>
        <p:txBody>
          <a:bodyPr wrap="none">
            <a:spAutoFit/>
          </a:bodyPr>
          <a:lstStyle/>
          <a:p>
            <a:pPr>
              <a:defRPr sz="2400" b="1">
                <a:solidFill>
                  <a:srgbClr val="4E342E"/>
                </a:solidFill>
              </a:defRPr>
            </a:pPr>
            <a:r>
              <a:t>Insights &amp; Recommendations</a:t>
            </a:r>
          </a:p>
        </p:txBody>
      </p:sp>
      <p:sp>
        <p:nvSpPr>
          <p:cNvPr id="3" name="TextBox 2"/>
          <p:cNvSpPr txBox="1"/>
          <p:nvPr/>
        </p:nvSpPr>
        <p:spPr>
          <a:xfrm>
            <a:off x="457200" y="731520"/>
            <a:ext cx="3657600" cy="1"/>
          </a:xfrm>
          <a:prstGeom prst="rect">
            <a:avLst/>
          </a:prstGeom>
          <a:noFill/>
        </p:spPr>
        <p:txBody>
          <a:bodyPr wrap="none">
            <a:spAutoFit/>
          </a:bodyPr>
          <a:lstStyle/>
          <a:p>
            <a:pPr>
              <a:defRPr sz="1800"/>
            </a:pPr>
            <a:r>
              <a:rPr dirty="0"/>
              <a:t>Peak hours, top products and business actions.</a:t>
            </a:r>
          </a:p>
        </p:txBody>
      </p:sp>
      <p:sp>
        <p:nvSpPr>
          <p:cNvPr id="8" name="TextBox 7">
            <a:extLst>
              <a:ext uri="{FF2B5EF4-FFF2-40B4-BE49-F238E27FC236}">
                <a16:creationId xmlns:a16="http://schemas.microsoft.com/office/drawing/2014/main" id="{1B15E4F7-51E5-8BD0-050E-D6C83486A97A}"/>
              </a:ext>
            </a:extLst>
          </p:cNvPr>
          <p:cNvSpPr txBox="1"/>
          <p:nvPr/>
        </p:nvSpPr>
        <p:spPr>
          <a:xfrm>
            <a:off x="239486" y="1730829"/>
            <a:ext cx="4332514" cy="3693319"/>
          </a:xfrm>
          <a:prstGeom prst="rect">
            <a:avLst/>
          </a:prstGeom>
          <a:noFill/>
        </p:spPr>
        <p:txBody>
          <a:bodyPr wrap="square" rtlCol="0">
            <a:spAutoFit/>
          </a:bodyPr>
          <a:lstStyle/>
          <a:p>
            <a:r>
              <a:rPr lang="en-GB" b="1" u="sng" dirty="0"/>
              <a:t>Recommendations</a:t>
            </a:r>
          </a:p>
          <a:p>
            <a:endParaRPr lang="en-GB" b="1" dirty="0"/>
          </a:p>
          <a:p>
            <a:r>
              <a:rPr lang="en-GB" dirty="0"/>
              <a:t>Based on the findings:</a:t>
            </a:r>
          </a:p>
          <a:p>
            <a:endParaRPr lang="en-GB" dirty="0"/>
          </a:p>
          <a:p>
            <a:r>
              <a:rPr lang="en-GB" dirty="0"/>
              <a:t>Increase stock for top-selling products. </a:t>
            </a:r>
          </a:p>
          <a:p>
            <a:r>
              <a:rPr lang="en-GB" dirty="0"/>
              <a:t>Schedule more staff during peak business hours. </a:t>
            </a:r>
          </a:p>
          <a:p>
            <a:endParaRPr lang="en-GB" dirty="0"/>
          </a:p>
          <a:p>
            <a:r>
              <a:rPr lang="en-GB" dirty="0"/>
              <a:t>Promote low-selling products through targeted campaigns. </a:t>
            </a:r>
          </a:p>
          <a:p>
            <a:endParaRPr lang="en-GB" dirty="0"/>
          </a:p>
          <a:p>
            <a:r>
              <a:rPr lang="en-GB" dirty="0"/>
              <a:t>Focus marketing on high-performing stores.</a:t>
            </a:r>
          </a:p>
          <a:p>
            <a:endParaRPr lang="en-GB" dirty="0"/>
          </a:p>
        </p:txBody>
      </p:sp>
      <p:sp>
        <p:nvSpPr>
          <p:cNvPr id="9" name="Rectangle: Rounded Corners 8">
            <a:extLst>
              <a:ext uri="{FF2B5EF4-FFF2-40B4-BE49-F238E27FC236}">
                <a16:creationId xmlns:a16="http://schemas.microsoft.com/office/drawing/2014/main" id="{B477E2AD-9C0E-9C1F-853A-4845B1DCAAF4}"/>
              </a:ext>
            </a:extLst>
          </p:cNvPr>
          <p:cNvSpPr/>
          <p:nvPr/>
        </p:nvSpPr>
        <p:spPr>
          <a:xfrm>
            <a:off x="239486" y="1338943"/>
            <a:ext cx="4332514" cy="533617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GB" b="1" u="sng" dirty="0"/>
              <a:t>Recommendations</a:t>
            </a:r>
          </a:p>
          <a:p>
            <a:endParaRPr lang="en-GB" b="1" dirty="0"/>
          </a:p>
          <a:p>
            <a:r>
              <a:rPr lang="en-GB" dirty="0"/>
              <a:t>Based on the findings:</a:t>
            </a:r>
          </a:p>
          <a:p>
            <a:endParaRPr lang="en-GB" dirty="0"/>
          </a:p>
          <a:p>
            <a:endParaRPr lang="en-GB" dirty="0"/>
          </a:p>
          <a:p>
            <a:pPr marL="285750" indent="-285750">
              <a:buFont typeface="Arial" panose="020B0604020202020204" pitchFamily="34" charset="0"/>
              <a:buChar char="•"/>
            </a:pPr>
            <a:r>
              <a:rPr lang="en-GB" dirty="0"/>
              <a:t>Increase stock for top-selling products.</a:t>
            </a:r>
          </a:p>
          <a:p>
            <a:r>
              <a:rPr lang="en-GB" dirty="0"/>
              <a:t> </a:t>
            </a:r>
          </a:p>
          <a:p>
            <a:pPr marL="285750" indent="-285750">
              <a:buFont typeface="Arial" panose="020B0604020202020204" pitchFamily="34" charset="0"/>
              <a:buChar char="•"/>
            </a:pPr>
            <a:r>
              <a:rPr lang="en-GB" dirty="0"/>
              <a:t>Schedule more staff during peak business hours. </a:t>
            </a:r>
          </a:p>
          <a:p>
            <a:endParaRPr lang="en-GB" dirty="0"/>
          </a:p>
          <a:p>
            <a:pPr marL="285750" indent="-285750">
              <a:buFont typeface="Arial" panose="020B0604020202020204" pitchFamily="34" charset="0"/>
              <a:buChar char="•"/>
            </a:pPr>
            <a:r>
              <a:rPr lang="en-GB" dirty="0"/>
              <a:t>Promote low-selling products through targeted campaigns. </a:t>
            </a:r>
          </a:p>
          <a:p>
            <a:endParaRPr lang="en-GB" dirty="0"/>
          </a:p>
          <a:p>
            <a:pPr marL="285750" indent="-285750">
              <a:buFont typeface="Arial" panose="020B0604020202020204" pitchFamily="34" charset="0"/>
              <a:buChar char="•"/>
            </a:pPr>
            <a:r>
              <a:rPr lang="en-GB" dirty="0"/>
              <a:t>Focus marketing on high-performing stores.</a:t>
            </a:r>
          </a:p>
        </p:txBody>
      </p:sp>
      <p:sp>
        <p:nvSpPr>
          <p:cNvPr id="10" name="Rectangle: Rounded Corners 9">
            <a:extLst>
              <a:ext uri="{FF2B5EF4-FFF2-40B4-BE49-F238E27FC236}">
                <a16:creationId xmlns:a16="http://schemas.microsoft.com/office/drawing/2014/main" id="{8A2373DC-2E05-FBA4-C66C-AC2BF7C99F61}"/>
              </a:ext>
            </a:extLst>
          </p:cNvPr>
          <p:cNvSpPr/>
          <p:nvPr/>
        </p:nvSpPr>
        <p:spPr>
          <a:xfrm>
            <a:off x="5236029" y="1338942"/>
            <a:ext cx="3744685" cy="53361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b="1" u="sng" dirty="0"/>
              <a:t>Key Insights</a:t>
            </a:r>
          </a:p>
          <a:p>
            <a:endParaRPr lang="en-GB" b="1" u="sng" dirty="0"/>
          </a:p>
          <a:p>
            <a:r>
              <a:rPr lang="en-GB" dirty="0"/>
              <a:t>From the analysis, several important findings emerged:</a:t>
            </a:r>
          </a:p>
          <a:p>
            <a:endParaRPr lang="en-GB" dirty="0"/>
          </a:p>
          <a:p>
            <a:pPr marL="285750" indent="-285750">
              <a:buFont typeface="Arial" panose="020B0604020202020204" pitchFamily="34" charset="0"/>
              <a:buChar char="•"/>
            </a:pPr>
            <a:r>
              <a:rPr lang="en-GB" dirty="0"/>
              <a:t>Certain products consistently generated the highest revenue. </a:t>
            </a:r>
          </a:p>
          <a:p>
            <a:endParaRPr lang="en-GB" dirty="0"/>
          </a:p>
          <a:p>
            <a:pPr marL="285750" indent="-285750">
              <a:buFont typeface="Arial" panose="020B0604020202020204" pitchFamily="34" charset="0"/>
              <a:buChar char="•"/>
            </a:pPr>
            <a:r>
              <a:rPr lang="en-GB" dirty="0"/>
              <a:t>A small number of products accounted for a significant share of total sales. </a:t>
            </a:r>
          </a:p>
          <a:p>
            <a:endParaRPr lang="en-GB" dirty="0"/>
          </a:p>
          <a:p>
            <a:pPr marL="285750" indent="-285750">
              <a:buFont typeface="Arial" panose="020B0604020202020204" pitchFamily="34" charset="0"/>
              <a:buChar char="•"/>
            </a:pPr>
            <a:r>
              <a:rPr lang="en-GB" dirty="0"/>
              <a:t>Sales varied by month, indicating seasonal trends. </a:t>
            </a:r>
          </a:p>
          <a:p>
            <a:endParaRPr lang="en-GB" dirty="0"/>
          </a:p>
          <a:p>
            <a:pPr marL="285750" indent="-285750">
              <a:buFont typeface="Arial" panose="020B0604020202020204" pitchFamily="34" charset="0"/>
              <a:buChar char="•"/>
            </a:pPr>
            <a:r>
              <a:rPr lang="en-GB" dirty="0"/>
              <a:t>Peak business hours were identified, helping to understand customer traffic patterns.</a:t>
            </a:r>
          </a:p>
          <a:p>
            <a:pPr algn="ct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1064</TotalTime>
  <Words>358</Words>
  <Application>Microsoft Office PowerPoint</Application>
  <PresentationFormat>On-screen Show (4:3)</PresentationFormat>
  <Paragraphs>85</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Hp</cp:lastModifiedBy>
  <cp:revision>2</cp:revision>
  <dcterms:created xsi:type="dcterms:W3CDTF">2013-01-27T09:14:16Z</dcterms:created>
  <dcterms:modified xsi:type="dcterms:W3CDTF">2026-07-28T08:33:59Z</dcterms:modified>
  <cp:category/>
</cp:coreProperties>
</file>